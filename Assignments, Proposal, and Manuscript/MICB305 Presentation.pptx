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Bianca Hufa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3T09:52:07.561">
    <p:pos x="6000" y="0"/>
    <p:text>"Understanding how different iron supplementation strategies influence the gut microbiome may help identify interventions that improve infant iron status while minimizing disruptions to beneficial microbial communities." Might be better to say this verbally</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6a63088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6a63088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45c0177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45c0177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45c01778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45c01778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6a63088c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6a63088c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6a63088c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6a63088c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6a63088c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6a63088c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Do the gut microbiomes of different treatment group possess different metabolic pathways?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Methods: </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Investigating predicted metabolic pathways using MetaCyc data from PICRUSt2 analysis</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Maaslin2 tool to investigate significance of differences in pathway abundance between treatment groups</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p-adjusted value of 0.05</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Results:</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No significant differences in predicted metabolic pathways between supplement groups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Biological significance:</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Anemic individuals should expect no gut microbiome metabolic differences regardless of the supplement they are taking</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Supplementation likely does not lead to dysbiosis of the gut microbiome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6a63088c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6a63088c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d5d8f85e6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d5d8f85e6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6a63088c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6a63088c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d5d008ed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d5d008ed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d5d008ed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d5d008ed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d5d008ed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dd5d008ed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47486d02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47486d02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47486d02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47486d02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47486d02d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47486d02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47486d02d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d47486d02d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2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gif"/><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372200" y="1425125"/>
            <a:ext cx="63996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400"/>
              <a:t>Iron supplementation does not significantly alter gut microbiome diversity or function in 12-month old anemic infants</a:t>
            </a:r>
            <a:endParaRPr/>
          </a:p>
        </p:txBody>
      </p:sp>
      <p:sp>
        <p:nvSpPr>
          <p:cNvPr id="55" name="Google Shape;55;p13"/>
          <p:cNvSpPr txBox="1"/>
          <p:nvPr>
            <p:ph idx="1" type="subTitle"/>
          </p:nvPr>
        </p:nvSpPr>
        <p:spPr>
          <a:xfrm>
            <a:off x="311700" y="2801650"/>
            <a:ext cx="8520600" cy="792600"/>
          </a:xfrm>
          <a:prstGeom prst="rect">
            <a:avLst/>
          </a:prstGeom>
        </p:spPr>
        <p:txBody>
          <a:bodyPr anchorCtr="0" anchor="t" bIns="91425" lIns="91425" spcFirstLastPara="1" rIns="91425" wrap="square" tIns="91425">
            <a:normAutofit/>
          </a:bodyPr>
          <a:lstStyle/>
          <a:p>
            <a:pPr indent="0" lvl="0" marL="0" rtl="0" algn="ctr">
              <a:lnSpc>
                <a:spcPct val="200000"/>
              </a:lnSpc>
              <a:spcBef>
                <a:spcPts val="0"/>
              </a:spcBef>
              <a:spcAft>
                <a:spcPts val="0"/>
              </a:spcAft>
              <a:buClr>
                <a:schemeClr val="dk1"/>
              </a:buClr>
              <a:buSzPts val="935"/>
              <a:buFont typeface="Arial"/>
              <a:buNone/>
            </a:pPr>
            <a:r>
              <a:rPr lang="en" sz="1600"/>
              <a:t>Group members: Aidan, Bianca, Jacqueline, Rajbir, Tiffany</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524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Background</a:t>
            </a:r>
            <a:endParaRPr b="1" sz="2420"/>
          </a:p>
        </p:txBody>
      </p:sp>
      <p:sp>
        <p:nvSpPr>
          <p:cNvPr id="61" name="Google Shape;61;p14"/>
          <p:cNvSpPr txBox="1"/>
          <p:nvPr>
            <p:ph idx="1" type="body"/>
          </p:nvPr>
        </p:nvSpPr>
        <p:spPr>
          <a:xfrm>
            <a:off x="311700" y="825100"/>
            <a:ext cx="4054800" cy="37740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1600">
                <a:solidFill>
                  <a:schemeClr val="dk1"/>
                </a:solidFill>
              </a:rPr>
              <a:t>A</a:t>
            </a:r>
            <a:r>
              <a:rPr b="1" lang="en" sz="1600">
                <a:solidFill>
                  <a:schemeClr val="dk1"/>
                </a:solidFill>
              </a:rPr>
              <a:t>n</a:t>
            </a:r>
            <a:r>
              <a:rPr b="1" lang="en" sz="1600">
                <a:solidFill>
                  <a:schemeClr val="dk1"/>
                </a:solidFill>
              </a:rPr>
              <a:t>emia</a:t>
            </a:r>
            <a:r>
              <a:rPr lang="en" sz="1600">
                <a:solidFill>
                  <a:schemeClr val="dk1"/>
                </a:solidFill>
              </a:rPr>
              <a:t> is a health condition that occurs when there is a </a:t>
            </a:r>
            <a:r>
              <a:rPr b="1" lang="en" sz="1600">
                <a:solidFill>
                  <a:schemeClr val="dk1"/>
                </a:solidFill>
              </a:rPr>
              <a:t>deficiency of healthy red blood cells (RBCs) or hemoglobin. </a:t>
            </a:r>
            <a:endParaRPr b="1" sz="1600">
              <a:solidFill>
                <a:schemeClr val="dk1"/>
              </a:solidFill>
            </a:endParaRPr>
          </a:p>
          <a:p>
            <a:pPr indent="0" lvl="0" marL="0" rtl="0" algn="l">
              <a:lnSpc>
                <a:spcPct val="100000"/>
              </a:lnSpc>
              <a:spcBef>
                <a:spcPts val="1200"/>
              </a:spcBef>
              <a:spcAft>
                <a:spcPts val="0"/>
              </a:spcAft>
              <a:buNone/>
            </a:pPr>
            <a:r>
              <a:rPr lang="en" sz="1600">
                <a:solidFill>
                  <a:schemeClr val="dk1"/>
                </a:solidFill>
              </a:rPr>
              <a:t>This results in poor oxygen transport for anemic individuals which contributes to symptoms such as: </a:t>
            </a:r>
            <a:endParaRPr sz="1600">
              <a:solidFill>
                <a:schemeClr val="dk1"/>
              </a:solidFill>
            </a:endParaRPr>
          </a:p>
          <a:p>
            <a:pPr indent="-330200" lvl="0" marL="457200" rtl="0" algn="l">
              <a:lnSpc>
                <a:spcPct val="100000"/>
              </a:lnSpc>
              <a:spcBef>
                <a:spcPts val="1200"/>
              </a:spcBef>
              <a:spcAft>
                <a:spcPts val="0"/>
              </a:spcAft>
              <a:buClr>
                <a:schemeClr val="dk1"/>
              </a:buClr>
              <a:buSzPts val="1600"/>
              <a:buChar char="-"/>
            </a:pPr>
            <a:r>
              <a:rPr lang="en" sz="1600">
                <a:solidFill>
                  <a:schemeClr val="dk1"/>
                </a:solidFill>
              </a:rPr>
              <a:t>fatigue</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 sz="1600">
                <a:solidFill>
                  <a:schemeClr val="dk1"/>
                </a:solidFill>
              </a:rPr>
              <a:t>weakness</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 sz="1600">
                <a:solidFill>
                  <a:schemeClr val="dk1"/>
                </a:solidFill>
              </a:rPr>
              <a:t>impaired</a:t>
            </a:r>
            <a:r>
              <a:rPr lang="en" sz="1600">
                <a:solidFill>
                  <a:schemeClr val="dk1"/>
                </a:solidFill>
              </a:rPr>
              <a:t> cognition </a:t>
            </a:r>
            <a:endParaRPr sz="1600">
              <a:solidFill>
                <a:schemeClr val="dk1"/>
              </a:solidFill>
            </a:endParaRPr>
          </a:p>
          <a:p>
            <a:pPr indent="0" lvl="0" marL="0" rtl="0" algn="l">
              <a:lnSpc>
                <a:spcPct val="100000"/>
              </a:lnSpc>
              <a:spcBef>
                <a:spcPts val="1200"/>
              </a:spcBef>
              <a:spcAft>
                <a:spcPts val="1200"/>
              </a:spcAft>
              <a:buNone/>
            </a:pPr>
            <a:r>
              <a:rPr lang="en" sz="1600">
                <a:solidFill>
                  <a:schemeClr val="dk1"/>
                </a:solidFill>
              </a:rPr>
              <a:t>Iron supplementation, such as FeSO4 and MNP (Multiple Micronutrient Powders),  are recommended to increase iron levels. </a:t>
            </a:r>
            <a:endParaRPr sz="1600">
              <a:solidFill>
                <a:schemeClr val="dk1"/>
              </a:solidFill>
            </a:endParaRPr>
          </a:p>
        </p:txBody>
      </p:sp>
      <p:pic>
        <p:nvPicPr>
          <p:cNvPr id="62" name="Google Shape;62;p14" title="Anemia-3.jpg"/>
          <p:cNvPicPr preferRelativeResize="0"/>
          <p:nvPr/>
        </p:nvPicPr>
        <p:blipFill>
          <a:blip r:embed="rId3">
            <a:alphaModFix/>
          </a:blip>
          <a:stretch>
            <a:fillRect/>
          </a:stretch>
        </p:blipFill>
        <p:spPr>
          <a:xfrm>
            <a:off x="4572000" y="544400"/>
            <a:ext cx="4054701" cy="40547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769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Background</a:t>
            </a:r>
            <a:endParaRPr b="1" sz="2420"/>
          </a:p>
        </p:txBody>
      </p:sp>
      <p:sp>
        <p:nvSpPr>
          <p:cNvPr id="68" name="Google Shape;68;p15"/>
          <p:cNvSpPr txBox="1"/>
          <p:nvPr>
            <p:ph idx="1" type="body"/>
          </p:nvPr>
        </p:nvSpPr>
        <p:spPr>
          <a:xfrm>
            <a:off x="311700" y="769475"/>
            <a:ext cx="8832300" cy="39180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b="1" lang="en" sz="1600">
                <a:solidFill>
                  <a:schemeClr val="dk1"/>
                </a:solidFill>
              </a:rPr>
              <a:t>Previous research: </a:t>
            </a:r>
            <a:r>
              <a:rPr lang="en" sz="1600">
                <a:solidFill>
                  <a:schemeClr val="dk1"/>
                </a:solidFill>
              </a:rPr>
              <a:t>No difference in the microbial diversity between anemic and healthy infants, but taking iron supplementation is known to alter the infant microbial composition (reduces </a:t>
            </a:r>
            <a:r>
              <a:rPr i="1" lang="en" sz="1600">
                <a:solidFill>
                  <a:schemeClr val="dk1"/>
                </a:solidFill>
              </a:rPr>
              <a:t>Bifidobacteria</a:t>
            </a:r>
            <a:r>
              <a:rPr lang="en" sz="1600">
                <a:solidFill>
                  <a:schemeClr val="dk1"/>
                </a:solidFill>
              </a:rPr>
              <a:t> and </a:t>
            </a:r>
            <a:r>
              <a:rPr i="1" lang="en" sz="1600">
                <a:solidFill>
                  <a:schemeClr val="dk1"/>
                </a:solidFill>
              </a:rPr>
              <a:t>Lactobacilli</a:t>
            </a:r>
            <a:r>
              <a:rPr lang="en" sz="1600">
                <a:solidFill>
                  <a:schemeClr val="dk1"/>
                </a:solidFill>
              </a:rPr>
              <a:t> which are beneficial bacteria).</a:t>
            </a:r>
            <a:endParaRPr b="1" sz="1600">
              <a:solidFill>
                <a:schemeClr val="dk1"/>
              </a:solidFill>
            </a:endParaRPr>
          </a:p>
          <a:p>
            <a:pPr indent="0" lvl="0" marL="0" rtl="0" algn="l">
              <a:lnSpc>
                <a:spcPct val="100000"/>
              </a:lnSpc>
              <a:spcBef>
                <a:spcPts val="1200"/>
              </a:spcBef>
              <a:spcAft>
                <a:spcPts val="1200"/>
              </a:spcAft>
              <a:buNone/>
            </a:pPr>
            <a:r>
              <a:rPr b="1" lang="en" sz="1600">
                <a:solidFill>
                  <a:schemeClr val="dk1"/>
                </a:solidFill>
              </a:rPr>
              <a:t>Knowledge gap: </a:t>
            </a:r>
            <a:r>
              <a:rPr lang="en" sz="1600">
                <a:solidFill>
                  <a:schemeClr val="dk1"/>
                </a:solidFill>
              </a:rPr>
              <a:t>FeSO4 and MNP are both common supplements for treating anemia, but their effects on microbial composition relative to each other is still unknown. This is especially important because FeSO4 can often cause side effects like nausea and fever due to its higher iron dosage compared to MNP.</a:t>
            </a:r>
            <a:endParaRPr sz="1600">
              <a:solidFill>
                <a:schemeClr val="dk1"/>
              </a:solidFill>
            </a:endParaRPr>
          </a:p>
        </p:txBody>
      </p:sp>
      <p:pic>
        <p:nvPicPr>
          <p:cNvPr id="69" name="Google Shape;69;p15" title="WAMPOLE_Sulfate_Ferreux_EN.png"/>
          <p:cNvPicPr preferRelativeResize="0"/>
          <p:nvPr/>
        </p:nvPicPr>
        <p:blipFill>
          <a:blip r:embed="rId3">
            <a:alphaModFix/>
          </a:blip>
          <a:stretch>
            <a:fillRect/>
          </a:stretch>
        </p:blipFill>
        <p:spPr>
          <a:xfrm>
            <a:off x="5871975" y="2571750"/>
            <a:ext cx="2339674" cy="2339700"/>
          </a:xfrm>
          <a:prstGeom prst="rect">
            <a:avLst/>
          </a:prstGeom>
          <a:noFill/>
          <a:ln>
            <a:noFill/>
          </a:ln>
        </p:spPr>
      </p:pic>
      <p:pic>
        <p:nvPicPr>
          <p:cNvPr id="70" name="Google Shape;70;p15" title="s1580201.jpg"/>
          <p:cNvPicPr preferRelativeResize="0"/>
          <p:nvPr/>
        </p:nvPicPr>
        <p:blipFill rotWithShape="1">
          <a:blip r:embed="rId4">
            <a:alphaModFix/>
          </a:blip>
          <a:srcRect b="23927" l="0" r="0" t="31795"/>
          <a:stretch/>
        </p:blipFill>
        <p:spPr>
          <a:xfrm>
            <a:off x="271925" y="3369475"/>
            <a:ext cx="5291750" cy="131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04175" y="312225"/>
            <a:ext cx="2136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Background</a:t>
            </a:r>
            <a:endParaRPr b="1" sz="2420"/>
          </a:p>
        </p:txBody>
      </p:sp>
      <p:sp>
        <p:nvSpPr>
          <p:cNvPr id="76" name="Google Shape;76;p16"/>
          <p:cNvSpPr txBox="1"/>
          <p:nvPr>
            <p:ph idx="1" type="body"/>
          </p:nvPr>
        </p:nvSpPr>
        <p:spPr>
          <a:xfrm>
            <a:off x="304175" y="884925"/>
            <a:ext cx="5326500" cy="34164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1018"/>
              <a:buNone/>
            </a:pPr>
            <a:r>
              <a:rPr b="1" lang="en" sz="1600">
                <a:solidFill>
                  <a:schemeClr val="dk1"/>
                </a:solidFill>
              </a:rPr>
              <a:t>Research question: </a:t>
            </a:r>
            <a:r>
              <a:rPr lang="en" sz="1600">
                <a:solidFill>
                  <a:schemeClr val="dk1"/>
                </a:solidFill>
              </a:rPr>
              <a:t>Among 12 month old anemic infants, </a:t>
            </a:r>
            <a:r>
              <a:rPr lang="en" sz="1600">
                <a:solidFill>
                  <a:schemeClr val="dk1"/>
                </a:solidFill>
              </a:rPr>
              <a:t>how is iron supplementation type (MNP vs. FeSO4 vs. none) associated with gut microbiome composition and function,</a:t>
            </a:r>
            <a:r>
              <a:rPr lang="en" sz="1600">
                <a:solidFill>
                  <a:schemeClr val="dk1"/>
                </a:solidFill>
              </a:rPr>
              <a:t> and </a:t>
            </a:r>
            <a:r>
              <a:rPr lang="en" sz="1600">
                <a:solidFill>
                  <a:schemeClr val="dk1"/>
                </a:solidFill>
              </a:rPr>
              <a:t>how </a:t>
            </a:r>
            <a:r>
              <a:rPr lang="en" sz="1600">
                <a:solidFill>
                  <a:schemeClr val="dk1"/>
                </a:solidFill>
              </a:rPr>
              <a:t>are these microbial differences associated with hemoglobin and ferritin </a:t>
            </a:r>
            <a:r>
              <a:rPr lang="en" sz="1600">
                <a:solidFill>
                  <a:schemeClr val="dk1"/>
                </a:solidFill>
              </a:rPr>
              <a:t>levels</a:t>
            </a:r>
            <a:r>
              <a:rPr lang="en" sz="1600">
                <a:solidFill>
                  <a:schemeClr val="dk1"/>
                </a:solidFill>
              </a:rPr>
              <a:t>?</a:t>
            </a:r>
            <a:endParaRPr sz="1600">
              <a:solidFill>
                <a:schemeClr val="dk1"/>
              </a:solidFill>
            </a:endParaRPr>
          </a:p>
          <a:p>
            <a:pPr indent="0" lvl="0" marL="0" rtl="0" algn="l">
              <a:lnSpc>
                <a:spcPct val="80000"/>
              </a:lnSpc>
              <a:spcBef>
                <a:spcPts val="0"/>
              </a:spcBef>
              <a:spcAft>
                <a:spcPts val="0"/>
              </a:spcAft>
              <a:buSzPts val="1018"/>
              <a:buNone/>
            </a:pPr>
            <a:r>
              <a:t/>
            </a:r>
            <a:endParaRPr sz="1600">
              <a:solidFill>
                <a:schemeClr val="dk1"/>
              </a:solidFill>
            </a:endParaRPr>
          </a:p>
          <a:p>
            <a:pPr indent="0" lvl="0" marL="0" rtl="0" algn="l">
              <a:lnSpc>
                <a:spcPct val="80000"/>
              </a:lnSpc>
              <a:spcBef>
                <a:spcPts val="0"/>
              </a:spcBef>
              <a:spcAft>
                <a:spcPts val="0"/>
              </a:spcAft>
              <a:buSzPts val="1018"/>
              <a:buNone/>
            </a:pPr>
            <a:r>
              <a:t/>
            </a:r>
            <a:endParaRPr sz="1600">
              <a:solidFill>
                <a:schemeClr val="dk1"/>
              </a:solidFill>
            </a:endParaRPr>
          </a:p>
          <a:p>
            <a:pPr indent="0" lvl="0" marL="0" rtl="0" algn="l">
              <a:lnSpc>
                <a:spcPct val="80000"/>
              </a:lnSpc>
              <a:spcBef>
                <a:spcPts val="0"/>
              </a:spcBef>
              <a:spcAft>
                <a:spcPts val="0"/>
              </a:spcAft>
              <a:buClr>
                <a:schemeClr val="dk1"/>
              </a:buClr>
              <a:buSzPts val="1018"/>
              <a:buFont typeface="Arial"/>
              <a:buNone/>
            </a:pPr>
            <a:r>
              <a:rPr lang="en" sz="1600">
                <a:solidFill>
                  <a:schemeClr val="dk1"/>
                </a:solidFill>
              </a:rPr>
              <a:t>Using 16s rRNA sequencing data from McClorry et al. (2018)</a:t>
            </a:r>
            <a:endParaRPr sz="1600">
              <a:solidFill>
                <a:schemeClr val="dk1"/>
              </a:solidFill>
            </a:endParaRPr>
          </a:p>
          <a:p>
            <a:pPr indent="-330200" lvl="0" marL="457200" rtl="0" algn="l">
              <a:lnSpc>
                <a:spcPct val="105454"/>
              </a:lnSpc>
              <a:spcBef>
                <a:spcPts val="1200"/>
              </a:spcBef>
              <a:spcAft>
                <a:spcPts val="0"/>
              </a:spcAft>
              <a:buClr>
                <a:schemeClr val="dk1"/>
              </a:buClr>
              <a:buSzPts val="1600"/>
              <a:buChar char="-"/>
            </a:pPr>
            <a:r>
              <a:rPr lang="en" sz="1600">
                <a:solidFill>
                  <a:schemeClr val="dk1"/>
                </a:solidFill>
              </a:rPr>
              <a:t>Samples collected in Iquitos, Peru</a:t>
            </a:r>
            <a:endParaRPr sz="1600">
              <a:solidFill>
                <a:schemeClr val="dk1"/>
              </a:solidFill>
            </a:endParaRPr>
          </a:p>
          <a:p>
            <a:pPr indent="-330200" lvl="0" marL="457200" rtl="0" algn="l">
              <a:lnSpc>
                <a:spcPct val="105454"/>
              </a:lnSpc>
              <a:spcBef>
                <a:spcPts val="0"/>
              </a:spcBef>
              <a:spcAft>
                <a:spcPts val="0"/>
              </a:spcAft>
              <a:buClr>
                <a:schemeClr val="dk1"/>
              </a:buClr>
              <a:buSzPts val="1600"/>
              <a:buChar char="-"/>
            </a:pPr>
            <a:r>
              <a:rPr lang="en" sz="1600">
                <a:solidFill>
                  <a:schemeClr val="dk1"/>
                </a:solidFill>
              </a:rPr>
              <a:t>102 samples from 12-13 month old healthy/anemic infants on MNP, FeSO₄, or no supplements</a:t>
            </a:r>
            <a:endParaRPr sz="1600">
              <a:solidFill>
                <a:schemeClr val="dk1"/>
              </a:solidFill>
            </a:endParaRPr>
          </a:p>
          <a:p>
            <a:pPr indent="-330200" lvl="0" marL="457200" rtl="0" algn="l">
              <a:lnSpc>
                <a:spcPct val="105454"/>
              </a:lnSpc>
              <a:spcBef>
                <a:spcPts val="0"/>
              </a:spcBef>
              <a:spcAft>
                <a:spcPts val="0"/>
              </a:spcAft>
              <a:buClr>
                <a:schemeClr val="dk1"/>
              </a:buClr>
              <a:buSzPts val="1600"/>
              <a:buChar char="-"/>
            </a:pPr>
            <a:r>
              <a:rPr lang="en" sz="1600">
                <a:solidFill>
                  <a:schemeClr val="dk1"/>
                </a:solidFill>
              </a:rPr>
              <a:t>Blood samples collected to measure hemoglobin and ferritin levels</a:t>
            </a:r>
            <a:endParaRPr sz="1600">
              <a:solidFill>
                <a:schemeClr val="dk1"/>
              </a:solidFill>
            </a:endParaRPr>
          </a:p>
          <a:p>
            <a:pPr indent="0" lvl="0" marL="0" rtl="0" algn="l">
              <a:lnSpc>
                <a:spcPct val="105454"/>
              </a:lnSpc>
              <a:spcBef>
                <a:spcPts val="1200"/>
              </a:spcBef>
              <a:spcAft>
                <a:spcPts val="0"/>
              </a:spcAft>
              <a:buNone/>
            </a:pPr>
            <a:r>
              <a:t/>
            </a:r>
            <a:endParaRPr sz="1600">
              <a:solidFill>
                <a:schemeClr val="dk1"/>
              </a:solidFill>
            </a:endParaRPr>
          </a:p>
          <a:p>
            <a:pPr indent="0" lvl="0" marL="457200" rtl="0" algn="l">
              <a:lnSpc>
                <a:spcPct val="80000"/>
              </a:lnSpc>
              <a:spcBef>
                <a:spcPts val="1200"/>
              </a:spcBef>
              <a:spcAft>
                <a:spcPts val="0"/>
              </a:spcAft>
              <a:buSzPts val="1018"/>
              <a:buNone/>
            </a:pPr>
            <a:r>
              <a:t/>
            </a:r>
            <a:endParaRPr sz="1388">
              <a:solidFill>
                <a:schemeClr val="dk1"/>
              </a:solidFill>
            </a:endParaRPr>
          </a:p>
        </p:txBody>
      </p:sp>
      <p:pic>
        <p:nvPicPr>
          <p:cNvPr id="77" name="Google Shape;77;p16" title="Screenshot 2026-04-06 184127.png"/>
          <p:cNvPicPr preferRelativeResize="0"/>
          <p:nvPr/>
        </p:nvPicPr>
        <p:blipFill>
          <a:blip r:embed="rId4">
            <a:alphaModFix/>
          </a:blip>
          <a:stretch>
            <a:fillRect/>
          </a:stretch>
        </p:blipFill>
        <p:spPr>
          <a:xfrm>
            <a:off x="5539825" y="906988"/>
            <a:ext cx="3559699" cy="3329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0" y="0"/>
            <a:ext cx="9343500" cy="7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800"/>
              <a:t>Aim 1: No </a:t>
            </a:r>
            <a:r>
              <a:rPr b="1" lang="en" sz="1800"/>
              <a:t>significant</a:t>
            </a:r>
            <a:r>
              <a:rPr b="1" lang="en" sz="1800"/>
              <a:t> differences in microbiome diversity across supplementation groups</a:t>
            </a:r>
            <a:endParaRPr b="1" sz="1800"/>
          </a:p>
        </p:txBody>
      </p:sp>
      <p:pic>
        <p:nvPicPr>
          <p:cNvPr id="83" name="Google Shape;83;p17" title="aim1_alpha_shannon.png"/>
          <p:cNvPicPr preferRelativeResize="0"/>
          <p:nvPr/>
        </p:nvPicPr>
        <p:blipFill rotWithShape="1">
          <a:blip r:embed="rId3">
            <a:alphaModFix/>
          </a:blip>
          <a:srcRect b="1911" l="0" r="2894" t="18452"/>
          <a:stretch/>
        </p:blipFill>
        <p:spPr>
          <a:xfrm>
            <a:off x="199500" y="784425"/>
            <a:ext cx="4114801" cy="3073799"/>
          </a:xfrm>
          <a:prstGeom prst="rect">
            <a:avLst/>
          </a:prstGeom>
          <a:noFill/>
          <a:ln>
            <a:noFill/>
          </a:ln>
        </p:spPr>
      </p:pic>
      <p:pic>
        <p:nvPicPr>
          <p:cNvPr id="84" name="Google Shape;84;p17" title="aim1_beta_bray_pcoa.png"/>
          <p:cNvPicPr preferRelativeResize="0"/>
          <p:nvPr/>
        </p:nvPicPr>
        <p:blipFill rotWithShape="1">
          <a:blip r:embed="rId4">
            <a:alphaModFix/>
          </a:blip>
          <a:srcRect b="2078" l="0" r="0" t="2155"/>
          <a:stretch/>
        </p:blipFill>
        <p:spPr>
          <a:xfrm>
            <a:off x="4612563" y="721114"/>
            <a:ext cx="4114801" cy="3200399"/>
          </a:xfrm>
          <a:prstGeom prst="rect">
            <a:avLst/>
          </a:prstGeom>
          <a:noFill/>
          <a:ln>
            <a:noFill/>
          </a:ln>
        </p:spPr>
      </p:pic>
      <p:sp>
        <p:nvSpPr>
          <p:cNvPr id="85" name="Google Shape;85;p17"/>
          <p:cNvSpPr txBox="1"/>
          <p:nvPr/>
        </p:nvSpPr>
        <p:spPr>
          <a:xfrm>
            <a:off x="3747650" y="3574000"/>
            <a:ext cx="5650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No clustering observed beta diversity (Bray / UniFrac)</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Microbiome remains stable across supplementation groups</a:t>
            </a:r>
            <a:endParaRPr sz="16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86" name="Google Shape;86;p17"/>
          <p:cNvSpPr txBox="1"/>
          <p:nvPr/>
        </p:nvSpPr>
        <p:spPr>
          <a:xfrm>
            <a:off x="-79550" y="3522050"/>
            <a:ext cx="43143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a:p>
            <a:pPr indent="-330200" lvl="0" marL="457200" rtl="0" algn="l">
              <a:spcBef>
                <a:spcPts val="0"/>
              </a:spcBef>
              <a:spcAft>
                <a:spcPts val="0"/>
              </a:spcAft>
              <a:buClr>
                <a:schemeClr val="dk1"/>
              </a:buClr>
              <a:buSzPts val="1600"/>
              <a:buChar char="-"/>
            </a:pPr>
            <a:r>
              <a:rPr lang="en" sz="1600">
                <a:solidFill>
                  <a:schemeClr val="dk1"/>
                </a:solidFill>
              </a:rPr>
              <a:t>No significant differences in Shannon diversity (BH-adjusted p &gt; 0.05)</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Consistent null results across all diversity metrics</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0" y="0"/>
            <a:ext cx="9144000" cy="55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b="1" lang="en" sz="1800"/>
              <a:t>Aim 2: The microbiome does not significantly differ between the treatment groups and the control</a:t>
            </a:r>
            <a:endParaRPr b="1" sz="1800"/>
          </a:p>
        </p:txBody>
      </p:sp>
      <p:sp>
        <p:nvSpPr>
          <p:cNvPr id="92" name="Google Shape;92;p18"/>
          <p:cNvSpPr txBox="1"/>
          <p:nvPr>
            <p:ph idx="1" type="body"/>
          </p:nvPr>
        </p:nvSpPr>
        <p:spPr>
          <a:xfrm>
            <a:off x="3400200" y="624700"/>
            <a:ext cx="5743800" cy="4518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Indicator species analysis found no significant taxa that were associated with any supplementation group</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330200" lvl="0" marL="457200" rtl="0" algn="l">
              <a:spcBef>
                <a:spcPts val="1200"/>
              </a:spcBef>
              <a:spcAft>
                <a:spcPts val="0"/>
              </a:spcAft>
              <a:buClr>
                <a:schemeClr val="dk1"/>
              </a:buClr>
              <a:buSzPts val="1600"/>
              <a:buChar char="-"/>
            </a:pPr>
            <a:r>
              <a:rPr lang="en" sz="1600">
                <a:solidFill>
                  <a:schemeClr val="dk1"/>
                </a:solidFill>
              </a:rPr>
              <a:t>No significant difference found </a:t>
            </a:r>
            <a:r>
              <a:rPr lang="en" sz="1600">
                <a:solidFill>
                  <a:schemeClr val="dk1"/>
                </a:solidFill>
              </a:rPr>
              <a:t>in the </a:t>
            </a:r>
            <a:r>
              <a:rPr lang="en" sz="1600">
                <a:solidFill>
                  <a:schemeClr val="dk1"/>
                </a:solidFill>
              </a:rPr>
              <a:t>differential abundance between treated and untreated anemic infants</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330200" lvl="0" marL="457200" rtl="0" algn="l">
              <a:spcBef>
                <a:spcPts val="1200"/>
              </a:spcBef>
              <a:spcAft>
                <a:spcPts val="0"/>
              </a:spcAft>
              <a:buClr>
                <a:schemeClr val="dk1"/>
              </a:buClr>
              <a:buSzPts val="1600"/>
              <a:buChar char="-"/>
            </a:pPr>
            <a:r>
              <a:rPr lang="en" sz="1600">
                <a:solidFill>
                  <a:schemeClr val="dk1"/>
                </a:solidFill>
              </a:rPr>
              <a:t>V</a:t>
            </a:r>
            <a:r>
              <a:rPr lang="en" sz="1600">
                <a:solidFill>
                  <a:schemeClr val="dk1"/>
                </a:solidFill>
              </a:rPr>
              <a:t>olcano plot was used to assess the differences in differential abundance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330200" lvl="0" marL="457200" rtl="0" algn="l">
              <a:spcBef>
                <a:spcPts val="1200"/>
              </a:spcBef>
              <a:spcAft>
                <a:spcPts val="0"/>
              </a:spcAft>
              <a:buClr>
                <a:schemeClr val="dk1"/>
              </a:buClr>
              <a:buSzPts val="1600"/>
              <a:buChar char="-"/>
            </a:pPr>
            <a:r>
              <a:rPr lang="en" sz="1600">
                <a:solidFill>
                  <a:schemeClr val="dk1"/>
                </a:solidFill>
              </a:rPr>
              <a:t>No taxa-level microbiome shifts detected</a:t>
            </a:r>
            <a:endParaRPr sz="1600">
              <a:solidFill>
                <a:schemeClr val="dk1"/>
              </a:solidFill>
            </a:endParaRPr>
          </a:p>
        </p:txBody>
      </p:sp>
      <p:pic>
        <p:nvPicPr>
          <p:cNvPr id="93" name="Google Shape;93;p18" title="Volcano Plot FeSO4 (1).jpg"/>
          <p:cNvPicPr preferRelativeResize="0"/>
          <p:nvPr/>
        </p:nvPicPr>
        <p:blipFill>
          <a:blip r:embed="rId3">
            <a:alphaModFix/>
          </a:blip>
          <a:stretch>
            <a:fillRect/>
          </a:stretch>
        </p:blipFill>
        <p:spPr>
          <a:xfrm>
            <a:off x="304575" y="710277"/>
            <a:ext cx="3095626" cy="2348922"/>
          </a:xfrm>
          <a:prstGeom prst="rect">
            <a:avLst/>
          </a:prstGeom>
          <a:noFill/>
          <a:ln>
            <a:noFill/>
          </a:ln>
        </p:spPr>
      </p:pic>
      <p:pic>
        <p:nvPicPr>
          <p:cNvPr id="94" name="Google Shape;94;p18" title="Volcano Plot MNP (1).jpg"/>
          <p:cNvPicPr preferRelativeResize="0"/>
          <p:nvPr/>
        </p:nvPicPr>
        <p:blipFill>
          <a:blip r:embed="rId4">
            <a:alphaModFix/>
          </a:blip>
          <a:stretch>
            <a:fillRect/>
          </a:stretch>
        </p:blipFill>
        <p:spPr>
          <a:xfrm>
            <a:off x="304563" y="2837478"/>
            <a:ext cx="3004449" cy="2279722"/>
          </a:xfrm>
          <a:prstGeom prst="rect">
            <a:avLst/>
          </a:prstGeom>
          <a:noFill/>
          <a:ln>
            <a:noFill/>
          </a:ln>
        </p:spPr>
      </p:pic>
      <p:sp>
        <p:nvSpPr>
          <p:cNvPr id="95" name="Google Shape;95;p18"/>
          <p:cNvSpPr txBox="1"/>
          <p:nvPr/>
        </p:nvSpPr>
        <p:spPr>
          <a:xfrm>
            <a:off x="61275" y="889800"/>
            <a:ext cx="243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CC0000"/>
                </a:solidFill>
              </a:rPr>
              <a:t>A</a:t>
            </a:r>
            <a:endParaRPr b="1" sz="1100">
              <a:solidFill>
                <a:srgbClr val="CC0000"/>
              </a:solidFill>
            </a:endParaRPr>
          </a:p>
        </p:txBody>
      </p:sp>
      <p:sp>
        <p:nvSpPr>
          <p:cNvPr id="96" name="Google Shape;96;p18"/>
          <p:cNvSpPr txBox="1"/>
          <p:nvPr/>
        </p:nvSpPr>
        <p:spPr>
          <a:xfrm>
            <a:off x="61275" y="2837475"/>
            <a:ext cx="243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100">
                <a:solidFill>
                  <a:srgbClr val="CC0000"/>
                </a:solidFill>
              </a:rPr>
              <a:t>B</a:t>
            </a:r>
            <a:endParaRPr b="1" sz="1800">
              <a:solidFill>
                <a:srgbClr val="CC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0" y="16875"/>
            <a:ext cx="9144000" cy="72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800"/>
              <a:t>Aim 3: </a:t>
            </a:r>
            <a:r>
              <a:rPr b="1" lang="en" sz="1800"/>
              <a:t>Supplement groups have no significant differences in predicted metabolic composition of the gut microbiome</a:t>
            </a:r>
            <a:endParaRPr b="1" sz="1800"/>
          </a:p>
        </p:txBody>
      </p:sp>
      <p:pic>
        <p:nvPicPr>
          <p:cNvPr id="102" name="Google Shape;102;p19" title="Figure 3.png"/>
          <p:cNvPicPr preferRelativeResize="0"/>
          <p:nvPr/>
        </p:nvPicPr>
        <p:blipFill rotWithShape="1">
          <a:blip r:embed="rId3">
            <a:alphaModFix/>
          </a:blip>
          <a:srcRect b="21017" l="0" r="0" t="0"/>
          <a:stretch/>
        </p:blipFill>
        <p:spPr>
          <a:xfrm>
            <a:off x="0" y="1122472"/>
            <a:ext cx="9144003" cy="3089076"/>
          </a:xfrm>
          <a:prstGeom prst="rect">
            <a:avLst/>
          </a:prstGeom>
          <a:noFill/>
          <a:ln>
            <a:noFill/>
          </a:ln>
        </p:spPr>
      </p:pic>
      <p:sp>
        <p:nvSpPr>
          <p:cNvPr id="103" name="Google Shape;103;p19"/>
          <p:cNvSpPr/>
          <p:nvPr/>
        </p:nvSpPr>
        <p:spPr>
          <a:xfrm>
            <a:off x="381950" y="1476850"/>
            <a:ext cx="8614800" cy="96600"/>
          </a:xfrm>
          <a:prstGeom prst="rect">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 name="Google Shape;104;p19"/>
          <p:cNvCxnSpPr>
            <a:stCxn id="103" idx="2"/>
            <a:endCxn id="105" idx="1"/>
          </p:cNvCxnSpPr>
          <p:nvPr/>
        </p:nvCxnSpPr>
        <p:spPr>
          <a:xfrm>
            <a:off x="4689350" y="1573450"/>
            <a:ext cx="690600" cy="316800"/>
          </a:xfrm>
          <a:prstGeom prst="straightConnector1">
            <a:avLst/>
          </a:prstGeom>
          <a:noFill/>
          <a:ln cap="flat" cmpd="sng" w="28575">
            <a:solidFill>
              <a:srgbClr val="E06666"/>
            </a:solidFill>
            <a:prstDash val="solid"/>
            <a:round/>
            <a:headEnd len="med" w="med" type="none"/>
            <a:tailEnd len="med" w="med" type="none"/>
          </a:ln>
        </p:spPr>
      </p:cxnSp>
      <p:sp>
        <p:nvSpPr>
          <p:cNvPr id="105" name="Google Shape;105;p19"/>
          <p:cNvSpPr txBox="1"/>
          <p:nvPr/>
        </p:nvSpPr>
        <p:spPr>
          <a:xfrm>
            <a:off x="5379850" y="1705638"/>
            <a:ext cx="3654300" cy="369300"/>
          </a:xfrm>
          <a:prstGeom prst="rect">
            <a:avLst/>
          </a:prstGeom>
          <a:noFill/>
          <a:ln cap="flat" cmpd="sng" w="28575">
            <a:solidFill>
              <a:srgbClr val="E06666"/>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E06666"/>
                </a:solidFill>
              </a:rPr>
              <a:t>Threshold of significance (p-adjusted &lt;0.05)</a:t>
            </a:r>
            <a:endParaRPr sz="1200">
              <a:solidFill>
                <a:srgbClr val="E06666"/>
              </a:solidFill>
            </a:endParaRPr>
          </a:p>
        </p:txBody>
      </p:sp>
      <p:sp>
        <p:nvSpPr>
          <p:cNvPr id="106" name="Google Shape;106;p19"/>
          <p:cNvSpPr txBox="1"/>
          <p:nvPr/>
        </p:nvSpPr>
        <p:spPr>
          <a:xfrm>
            <a:off x="3220550" y="2222725"/>
            <a:ext cx="2933400" cy="554100"/>
          </a:xfrm>
          <a:prstGeom prst="rect">
            <a:avLst/>
          </a:prstGeom>
          <a:noFill/>
          <a:ln cap="flat" cmpd="sng" w="2857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6AA84F"/>
                </a:solidFill>
              </a:rPr>
              <a:t>Plot reveals no significant differences in predicted pathway abundance</a:t>
            </a:r>
            <a:endParaRPr sz="1200">
              <a:solidFill>
                <a:srgbClr val="6AA84F"/>
              </a:solidFill>
            </a:endParaRPr>
          </a:p>
        </p:txBody>
      </p:sp>
      <p:cxnSp>
        <p:nvCxnSpPr>
          <p:cNvPr id="107" name="Google Shape;107;p19"/>
          <p:cNvCxnSpPr>
            <a:stCxn id="106" idx="3"/>
          </p:cNvCxnSpPr>
          <p:nvPr/>
        </p:nvCxnSpPr>
        <p:spPr>
          <a:xfrm>
            <a:off x="6153950" y="2499775"/>
            <a:ext cx="1535700" cy="988800"/>
          </a:xfrm>
          <a:prstGeom prst="straightConnector1">
            <a:avLst/>
          </a:prstGeom>
          <a:noFill/>
          <a:ln cap="flat" cmpd="sng" w="28575">
            <a:solidFill>
              <a:srgbClr val="6AA84F"/>
            </a:solidFill>
            <a:prstDash val="solid"/>
            <a:round/>
            <a:headEnd len="med" w="med" type="none"/>
            <a:tailEnd len="med" w="med" type="stealth"/>
          </a:ln>
        </p:spPr>
      </p:cxnSp>
      <p:cxnSp>
        <p:nvCxnSpPr>
          <p:cNvPr id="108" name="Google Shape;108;p19"/>
          <p:cNvCxnSpPr>
            <a:stCxn id="106" idx="2"/>
          </p:cNvCxnSpPr>
          <p:nvPr/>
        </p:nvCxnSpPr>
        <p:spPr>
          <a:xfrm flipH="1">
            <a:off x="4685150" y="2776825"/>
            <a:ext cx="2100" cy="899700"/>
          </a:xfrm>
          <a:prstGeom prst="straightConnector1">
            <a:avLst/>
          </a:prstGeom>
          <a:noFill/>
          <a:ln cap="flat" cmpd="sng" w="28575">
            <a:solidFill>
              <a:srgbClr val="6AA84F"/>
            </a:solidFill>
            <a:prstDash val="solid"/>
            <a:round/>
            <a:headEnd len="med" w="med" type="none"/>
            <a:tailEnd len="med" w="med" type="stealth"/>
          </a:ln>
        </p:spPr>
      </p:cxnSp>
      <p:cxnSp>
        <p:nvCxnSpPr>
          <p:cNvPr id="109" name="Google Shape;109;p19"/>
          <p:cNvCxnSpPr>
            <a:stCxn id="106" idx="1"/>
          </p:cNvCxnSpPr>
          <p:nvPr/>
        </p:nvCxnSpPr>
        <p:spPr>
          <a:xfrm flipH="1">
            <a:off x="1736750" y="2499775"/>
            <a:ext cx="1483800" cy="1207500"/>
          </a:xfrm>
          <a:prstGeom prst="straightConnector1">
            <a:avLst/>
          </a:prstGeom>
          <a:noFill/>
          <a:ln cap="flat" cmpd="sng" w="28575">
            <a:solidFill>
              <a:srgbClr val="6AA84F"/>
            </a:solidFill>
            <a:prstDash val="solid"/>
            <a:round/>
            <a:headEnd len="med" w="med" type="none"/>
            <a:tailEnd len="med" w="med" type="stealth"/>
          </a:ln>
        </p:spPr>
      </p:cxnSp>
      <p:sp>
        <p:nvSpPr>
          <p:cNvPr id="110" name="Google Shape;110;p19"/>
          <p:cNvSpPr txBox="1"/>
          <p:nvPr/>
        </p:nvSpPr>
        <p:spPr>
          <a:xfrm>
            <a:off x="2490350" y="4414900"/>
            <a:ext cx="4391700" cy="384900"/>
          </a:xfrm>
          <a:prstGeom prst="rect">
            <a:avLst/>
          </a:prstGeom>
          <a:noFill/>
          <a:ln cap="flat" cmpd="sng" w="28575">
            <a:solidFill>
              <a:srgbClr val="3D85C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rPr>
              <a:t>Points &gt; 0 indicate increased abundance in a treatment group</a:t>
            </a:r>
            <a:endParaRPr sz="1200">
              <a:solidFill>
                <a:srgbClr val="3D85C6"/>
              </a:solidFill>
            </a:endParaRPr>
          </a:p>
        </p:txBody>
      </p:sp>
      <p:cxnSp>
        <p:nvCxnSpPr>
          <p:cNvPr id="111" name="Google Shape;111;p19"/>
          <p:cNvCxnSpPr/>
          <p:nvPr/>
        </p:nvCxnSpPr>
        <p:spPr>
          <a:xfrm flipH="1">
            <a:off x="419150" y="4112050"/>
            <a:ext cx="6600" cy="479100"/>
          </a:xfrm>
          <a:prstGeom prst="straightConnector1">
            <a:avLst/>
          </a:prstGeom>
          <a:noFill/>
          <a:ln cap="flat" cmpd="sng" w="28575">
            <a:solidFill>
              <a:srgbClr val="3D85C6"/>
            </a:solidFill>
            <a:prstDash val="solid"/>
            <a:round/>
            <a:headEnd len="med" w="med" type="none"/>
            <a:tailEnd len="med" w="med" type="none"/>
          </a:ln>
        </p:spPr>
      </p:cxnSp>
      <p:cxnSp>
        <p:nvCxnSpPr>
          <p:cNvPr id="112" name="Google Shape;112;p19"/>
          <p:cNvCxnSpPr/>
          <p:nvPr/>
        </p:nvCxnSpPr>
        <p:spPr>
          <a:xfrm flipH="1">
            <a:off x="8946650" y="4112050"/>
            <a:ext cx="6600" cy="479100"/>
          </a:xfrm>
          <a:prstGeom prst="straightConnector1">
            <a:avLst/>
          </a:prstGeom>
          <a:noFill/>
          <a:ln cap="flat" cmpd="sng" w="28575">
            <a:solidFill>
              <a:srgbClr val="3D85C6"/>
            </a:solidFill>
            <a:prstDash val="solid"/>
            <a:round/>
            <a:headEnd len="med" w="med" type="none"/>
            <a:tailEnd len="med" w="med" type="none"/>
          </a:ln>
        </p:spPr>
      </p:cxnSp>
      <p:cxnSp>
        <p:nvCxnSpPr>
          <p:cNvPr id="113" name="Google Shape;113;p19"/>
          <p:cNvCxnSpPr>
            <a:stCxn id="110" idx="1"/>
          </p:cNvCxnSpPr>
          <p:nvPr/>
        </p:nvCxnSpPr>
        <p:spPr>
          <a:xfrm rot="10800000">
            <a:off x="419150" y="4591150"/>
            <a:ext cx="2071200" cy="16200"/>
          </a:xfrm>
          <a:prstGeom prst="straightConnector1">
            <a:avLst/>
          </a:prstGeom>
          <a:noFill/>
          <a:ln cap="flat" cmpd="sng" w="28575">
            <a:solidFill>
              <a:srgbClr val="3D85C6"/>
            </a:solidFill>
            <a:prstDash val="solid"/>
            <a:round/>
            <a:headEnd len="med" w="med" type="none"/>
            <a:tailEnd len="med" w="med" type="none"/>
          </a:ln>
        </p:spPr>
      </p:cxnSp>
      <p:cxnSp>
        <p:nvCxnSpPr>
          <p:cNvPr id="114" name="Google Shape;114;p19"/>
          <p:cNvCxnSpPr/>
          <p:nvPr/>
        </p:nvCxnSpPr>
        <p:spPr>
          <a:xfrm flipH="1">
            <a:off x="6882300" y="4591225"/>
            <a:ext cx="2073900" cy="8100"/>
          </a:xfrm>
          <a:prstGeom prst="straightConnector1">
            <a:avLst/>
          </a:prstGeom>
          <a:noFill/>
          <a:ln cap="flat" cmpd="sng" w="28575">
            <a:solidFill>
              <a:srgbClr val="3D85C6"/>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425" y="159200"/>
            <a:ext cx="8731800" cy="94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990"/>
              <a:buFont typeface="Arial"/>
              <a:buNone/>
            </a:pPr>
            <a:r>
              <a:rPr b="1" lang="en" sz="1800"/>
              <a:t>Aim 4: S</a:t>
            </a:r>
            <a:r>
              <a:rPr b="1" lang="en" sz="1800"/>
              <a:t>ignificant correlations between microbiome diversity and hemoglobin or ferritin levels.</a:t>
            </a:r>
            <a:endParaRPr b="1" sz="1800"/>
          </a:p>
        </p:txBody>
      </p:sp>
      <p:sp>
        <p:nvSpPr>
          <p:cNvPr id="120" name="Google Shape;120;p20"/>
          <p:cNvSpPr txBox="1"/>
          <p:nvPr/>
        </p:nvSpPr>
        <p:spPr>
          <a:xfrm>
            <a:off x="210475" y="615400"/>
            <a:ext cx="893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2"/>
              </a:solidFill>
            </a:endParaRPr>
          </a:p>
        </p:txBody>
      </p:sp>
      <p:pic>
        <p:nvPicPr>
          <p:cNvPr id="121" name="Google Shape;121;p20" title="Screenshot 2026-04-06 at 6.34.10 PM.png"/>
          <p:cNvPicPr preferRelativeResize="0"/>
          <p:nvPr/>
        </p:nvPicPr>
        <p:blipFill rotWithShape="1">
          <a:blip r:embed="rId3">
            <a:alphaModFix/>
          </a:blip>
          <a:srcRect b="0" l="0" r="0" t="2334"/>
          <a:stretch/>
        </p:blipFill>
        <p:spPr>
          <a:xfrm>
            <a:off x="55375" y="1104200"/>
            <a:ext cx="4462852" cy="2537826"/>
          </a:xfrm>
          <a:prstGeom prst="rect">
            <a:avLst/>
          </a:prstGeom>
          <a:noFill/>
          <a:ln>
            <a:noFill/>
          </a:ln>
        </p:spPr>
      </p:pic>
      <p:pic>
        <p:nvPicPr>
          <p:cNvPr id="122" name="Google Shape;122;p20" title="Screenshot 2026-04-06 at 6.36.36 PM.png"/>
          <p:cNvPicPr preferRelativeResize="0"/>
          <p:nvPr/>
        </p:nvPicPr>
        <p:blipFill>
          <a:blip r:embed="rId4">
            <a:alphaModFix/>
          </a:blip>
          <a:stretch>
            <a:fillRect/>
          </a:stretch>
        </p:blipFill>
        <p:spPr>
          <a:xfrm>
            <a:off x="4572000" y="1046500"/>
            <a:ext cx="4572002" cy="2653219"/>
          </a:xfrm>
          <a:prstGeom prst="rect">
            <a:avLst/>
          </a:prstGeom>
          <a:noFill/>
          <a:ln>
            <a:noFill/>
          </a:ln>
        </p:spPr>
      </p:pic>
      <p:sp>
        <p:nvSpPr>
          <p:cNvPr id="123" name="Google Shape;123;p20"/>
          <p:cNvSpPr txBox="1"/>
          <p:nvPr/>
        </p:nvSpPr>
        <p:spPr>
          <a:xfrm>
            <a:off x="4429225" y="3699725"/>
            <a:ext cx="360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The p</a:t>
            </a:r>
            <a:r>
              <a:rPr lang="en" sz="1600">
                <a:solidFill>
                  <a:schemeClr val="dk1"/>
                </a:solidFill>
              </a:rPr>
              <a:t>ositive correlation between the Shannon index and hemoglobin and ferritin levels is significant</a:t>
            </a:r>
            <a:r>
              <a:rPr lang="en" sz="1600">
                <a:solidFill>
                  <a:schemeClr val="dk1"/>
                </a:solidFill>
              </a:rPr>
              <a:t> (p &lt; 0.05)</a:t>
            </a:r>
            <a:endParaRPr sz="1600">
              <a:solidFill>
                <a:schemeClr val="dk1"/>
              </a:solidFill>
            </a:endParaRPr>
          </a:p>
        </p:txBody>
      </p:sp>
      <p:sp>
        <p:nvSpPr>
          <p:cNvPr id="124" name="Google Shape;124;p20"/>
          <p:cNvSpPr/>
          <p:nvPr/>
        </p:nvSpPr>
        <p:spPr>
          <a:xfrm flipH="1" rot="5398435">
            <a:off x="7938660" y="3634518"/>
            <a:ext cx="658800" cy="673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20"/>
          <p:cNvSpPr/>
          <p:nvPr/>
        </p:nvSpPr>
        <p:spPr>
          <a:xfrm rot="-5398435">
            <a:off x="3664235" y="3634518"/>
            <a:ext cx="658800" cy="673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0"/>
          <p:cNvSpPr txBox="1"/>
          <p:nvPr/>
        </p:nvSpPr>
        <p:spPr>
          <a:xfrm>
            <a:off x="25500" y="3764175"/>
            <a:ext cx="38646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rPr>
              <a:t>Note: both regression lines do not fit the data well (low R^2 values close to 0)</a:t>
            </a:r>
            <a:endParaRPr sz="1600">
              <a:solidFill>
                <a:schemeClr val="dk1"/>
              </a:solidFill>
            </a:endParaRPr>
          </a:p>
        </p:txBody>
      </p:sp>
      <p:pic>
        <p:nvPicPr>
          <p:cNvPr id="127" name="Google Shape;127;p20"/>
          <p:cNvPicPr preferRelativeResize="0"/>
          <p:nvPr/>
        </p:nvPicPr>
        <p:blipFill>
          <a:blip r:embed="rId5">
            <a:alphaModFix/>
          </a:blip>
          <a:stretch>
            <a:fillRect/>
          </a:stretch>
        </p:blipFill>
        <p:spPr>
          <a:xfrm>
            <a:off x="152400" y="152400"/>
            <a:ext cx="72851" cy="228600"/>
          </a:xfrm>
          <a:prstGeom prst="rect">
            <a:avLst/>
          </a:prstGeom>
          <a:noFill/>
          <a:ln>
            <a:noFill/>
          </a:ln>
        </p:spPr>
      </p:pic>
      <p:sp>
        <p:nvSpPr>
          <p:cNvPr id="128" name="Google Shape;128;p20"/>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 name="Google Shape;129;p20"/>
          <p:cNvPicPr preferRelativeResize="0"/>
          <p:nvPr/>
        </p:nvPicPr>
        <p:blipFill>
          <a:blip r:embed="rId5">
            <a:alphaModFix/>
          </a:blip>
          <a:stretch>
            <a:fillRect/>
          </a:stretch>
        </p:blipFill>
        <p:spPr>
          <a:xfrm>
            <a:off x="304800" y="304800"/>
            <a:ext cx="72851" cy="228600"/>
          </a:xfrm>
          <a:prstGeom prst="rect">
            <a:avLst/>
          </a:prstGeom>
          <a:noFill/>
          <a:ln>
            <a:noFill/>
          </a:ln>
        </p:spPr>
      </p:pic>
      <p:sp>
        <p:nvSpPr>
          <p:cNvPr id="130" name="Google Shape;130;p20"/>
          <p:cNvSpPr txBox="1"/>
          <p:nvPr/>
        </p:nvSpPr>
        <p:spPr>
          <a:xfrm>
            <a:off x="457200" y="4572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0" y="0"/>
            <a:ext cx="9144000" cy="9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891"/>
              <a:buFont typeface="Arial"/>
              <a:buNone/>
            </a:pPr>
            <a:r>
              <a:rPr b="1" lang="en" sz="1620"/>
              <a:t>Aim 4: No significant correlation between microbiome diversity and hemoglobin or ferritin levels between supplementation types when compared to non-supplemented infants.</a:t>
            </a:r>
            <a:endParaRPr b="1" sz="1620"/>
          </a:p>
        </p:txBody>
      </p:sp>
      <p:sp>
        <p:nvSpPr>
          <p:cNvPr id="136" name="Google Shape;136;p21"/>
          <p:cNvSpPr txBox="1"/>
          <p:nvPr/>
        </p:nvSpPr>
        <p:spPr>
          <a:xfrm>
            <a:off x="4187925" y="2261525"/>
            <a:ext cx="4542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No significant difference between </a:t>
            </a:r>
            <a:r>
              <a:rPr lang="en" sz="1600">
                <a:solidFill>
                  <a:schemeClr val="dk1"/>
                </a:solidFill>
              </a:rPr>
              <a:t>Shannon Index and </a:t>
            </a:r>
            <a:r>
              <a:rPr lang="en" sz="1600">
                <a:solidFill>
                  <a:schemeClr val="dk1"/>
                </a:solidFill>
              </a:rPr>
              <a:t>supplement types</a:t>
            </a:r>
            <a:r>
              <a:rPr lang="en" sz="1600">
                <a:solidFill>
                  <a:schemeClr val="dk1"/>
                </a:solidFill>
              </a:rPr>
              <a:t> when compared to the None (control) group as all p-values &gt; 0.05</a:t>
            </a:r>
            <a:endParaRPr sz="1600">
              <a:solidFill>
                <a:schemeClr val="dk1"/>
              </a:solidFill>
            </a:endParaRPr>
          </a:p>
        </p:txBody>
      </p:sp>
      <p:sp>
        <p:nvSpPr>
          <p:cNvPr id="137" name="Google Shape;137;p21"/>
          <p:cNvSpPr txBox="1"/>
          <p:nvPr/>
        </p:nvSpPr>
        <p:spPr>
          <a:xfrm>
            <a:off x="210475" y="615400"/>
            <a:ext cx="893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2"/>
              </a:solidFill>
            </a:endParaRPr>
          </a:p>
        </p:txBody>
      </p:sp>
      <p:pic>
        <p:nvPicPr>
          <p:cNvPr id="138" name="Google Shape;138;p21" title="Screenshot 2026-04-06 at 6.44.29 PM.png"/>
          <p:cNvPicPr preferRelativeResize="0"/>
          <p:nvPr/>
        </p:nvPicPr>
        <p:blipFill>
          <a:blip r:embed="rId3">
            <a:alphaModFix/>
          </a:blip>
          <a:stretch>
            <a:fillRect/>
          </a:stretch>
        </p:blipFill>
        <p:spPr>
          <a:xfrm>
            <a:off x="210475" y="683225"/>
            <a:ext cx="3736524" cy="2153800"/>
          </a:xfrm>
          <a:prstGeom prst="rect">
            <a:avLst/>
          </a:prstGeom>
          <a:noFill/>
          <a:ln>
            <a:noFill/>
          </a:ln>
        </p:spPr>
      </p:pic>
      <p:pic>
        <p:nvPicPr>
          <p:cNvPr id="139" name="Google Shape;139;p21" title="Screenshot 2026-04-06 at 6.44.56 PM.png"/>
          <p:cNvPicPr preferRelativeResize="0"/>
          <p:nvPr/>
        </p:nvPicPr>
        <p:blipFill rotWithShape="1">
          <a:blip r:embed="rId4">
            <a:alphaModFix/>
          </a:blip>
          <a:srcRect b="0" l="0" r="0" t="1990"/>
          <a:stretch/>
        </p:blipFill>
        <p:spPr>
          <a:xfrm>
            <a:off x="290150" y="3068000"/>
            <a:ext cx="3656850" cy="2075500"/>
          </a:xfrm>
          <a:prstGeom prst="rect">
            <a:avLst/>
          </a:prstGeom>
          <a:noFill/>
          <a:ln>
            <a:noFill/>
          </a:ln>
        </p:spPr>
      </p:pic>
      <p:sp>
        <p:nvSpPr>
          <p:cNvPr id="140" name="Google Shape;140;p21"/>
          <p:cNvSpPr/>
          <p:nvPr/>
        </p:nvSpPr>
        <p:spPr>
          <a:xfrm flipH="1" rot="-5401565">
            <a:off x="4242610" y="1497893"/>
            <a:ext cx="658800" cy="673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1" name="Google Shape;141;p21" title="Screenshot 2026-04-06 at 7.08.39 PM.png"/>
          <p:cNvPicPr preferRelativeResize="0"/>
          <p:nvPr/>
        </p:nvPicPr>
        <p:blipFill rotWithShape="1">
          <a:blip r:embed="rId5">
            <a:alphaModFix/>
          </a:blip>
          <a:srcRect b="3007" l="0" r="0" t="0"/>
          <a:stretch/>
        </p:blipFill>
        <p:spPr>
          <a:xfrm>
            <a:off x="4994000" y="1046500"/>
            <a:ext cx="3736524" cy="945000"/>
          </a:xfrm>
          <a:prstGeom prst="rect">
            <a:avLst/>
          </a:prstGeom>
          <a:noFill/>
          <a:ln>
            <a:noFill/>
          </a:ln>
        </p:spPr>
      </p:pic>
      <p:pic>
        <p:nvPicPr>
          <p:cNvPr id="142" name="Google Shape;142;p21" title="Screenshot 2026-04-06 at 7.09.54 PM.png"/>
          <p:cNvPicPr preferRelativeResize="0"/>
          <p:nvPr/>
        </p:nvPicPr>
        <p:blipFill>
          <a:blip r:embed="rId6">
            <a:alphaModFix/>
          </a:blip>
          <a:stretch>
            <a:fillRect/>
          </a:stretch>
        </p:blipFill>
        <p:spPr>
          <a:xfrm>
            <a:off x="4994000" y="3681750"/>
            <a:ext cx="3736527" cy="947638"/>
          </a:xfrm>
          <a:prstGeom prst="rect">
            <a:avLst/>
          </a:prstGeom>
          <a:noFill/>
          <a:ln>
            <a:noFill/>
          </a:ln>
        </p:spPr>
      </p:pic>
      <p:sp>
        <p:nvSpPr>
          <p:cNvPr id="143" name="Google Shape;143;p21"/>
          <p:cNvSpPr/>
          <p:nvPr/>
        </p:nvSpPr>
        <p:spPr>
          <a:xfrm rot="-5398435">
            <a:off x="4242608" y="3447443"/>
            <a:ext cx="658800" cy="673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What do these results mean for anemic infants? </a:t>
            </a:r>
            <a:endParaRPr b="1" sz="2420"/>
          </a:p>
        </p:txBody>
      </p:sp>
      <p:sp>
        <p:nvSpPr>
          <p:cNvPr id="149" name="Google Shape;149;p22"/>
          <p:cNvSpPr txBox="1"/>
          <p:nvPr>
            <p:ph idx="1" type="body"/>
          </p:nvPr>
        </p:nvSpPr>
        <p:spPr>
          <a:xfrm>
            <a:off x="311700" y="1228804"/>
            <a:ext cx="8520600" cy="3914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The gut microbiome does not differ greatly between anemic infants who are taking different kinds of supplements. </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The findings support the conclusion that the metabolic functions of the gut microbiome does not differ between supplement types in anemic infants.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Taking supplements is beneficial for anemic infants </a:t>
            </a:r>
            <a:r>
              <a:rPr lang="en">
                <a:solidFill>
                  <a:srgbClr val="D9D9D9"/>
                </a:solidFill>
              </a:rPr>
              <a:t>because</a:t>
            </a:r>
            <a:r>
              <a:rPr lang="en">
                <a:solidFill>
                  <a:srgbClr val="D9D9D9"/>
                </a:solidFill>
              </a:rPr>
              <a:t> increased hemoglobin or ferritin levels is associated with gut microbial diversity.</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This result is good because that means patients can choose to take either FeSO4 or MNP without </a:t>
            </a:r>
            <a:r>
              <a:rPr lang="en">
                <a:solidFill>
                  <a:srgbClr val="D9D9D9"/>
                </a:solidFill>
              </a:rPr>
              <a:t>significantly</a:t>
            </a:r>
            <a:r>
              <a:rPr lang="en">
                <a:solidFill>
                  <a:srgbClr val="D9D9D9"/>
                </a:solidFill>
              </a:rPr>
              <a:t> affecting their microbiome diversity.</a:t>
            </a:r>
            <a:endParaRPr>
              <a:solidFill>
                <a:srgbClr val="D9D9D9"/>
              </a:solidFill>
            </a:endParaRPr>
          </a:p>
          <a:p>
            <a:pPr indent="0" lvl="0" marL="457200" rtl="0" algn="l">
              <a:spcBef>
                <a:spcPts val="1200"/>
              </a:spcBef>
              <a:spcAft>
                <a:spcPts val="0"/>
              </a:spcAft>
              <a:buNone/>
            </a:pPr>
            <a:r>
              <a:t/>
            </a:r>
            <a:endParaRPr>
              <a:solidFill>
                <a:srgbClr val="D9D9D9"/>
              </a:solidFill>
            </a:endParaRPr>
          </a:p>
          <a:p>
            <a:pPr indent="0" lvl="0" marL="457200" rtl="0" algn="l">
              <a:spcBef>
                <a:spcPts val="1200"/>
              </a:spcBef>
              <a:spcAft>
                <a:spcPts val="1200"/>
              </a:spcAft>
              <a:buNone/>
            </a:pPr>
            <a:r>
              <a:t/>
            </a:r>
            <a:endParaRPr>
              <a:solidFill>
                <a:schemeClr val="dk1"/>
              </a:solidFill>
            </a:endParaRPr>
          </a:p>
        </p:txBody>
      </p:sp>
      <p:sp>
        <p:nvSpPr>
          <p:cNvPr id="150" name="Google Shape;150;p22"/>
          <p:cNvSpPr txBox="1"/>
          <p:nvPr>
            <p:ph idx="1" type="body"/>
          </p:nvPr>
        </p:nvSpPr>
        <p:spPr>
          <a:xfrm>
            <a:off x="311700" y="1228800"/>
            <a:ext cx="8520600" cy="3257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gut microbiome does not differ greatly between anemic infants who are taking different kinds of supplements. </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What do these results mean for anemic infants? </a:t>
            </a:r>
            <a:endParaRPr b="1" sz="2420"/>
          </a:p>
        </p:txBody>
      </p:sp>
      <p:sp>
        <p:nvSpPr>
          <p:cNvPr id="156" name="Google Shape;156;p23"/>
          <p:cNvSpPr txBox="1"/>
          <p:nvPr>
            <p:ph idx="1" type="body"/>
          </p:nvPr>
        </p:nvSpPr>
        <p:spPr>
          <a:xfrm>
            <a:off x="311700" y="12327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The gut microbiome does not differ greatly between anemic infants who are taking different kinds of supplements. </a:t>
            </a:r>
            <a:endParaRPr>
              <a:solidFill>
                <a:srgbClr val="D9D9D9"/>
              </a:solidFill>
            </a:endParaRPr>
          </a:p>
          <a:p>
            <a:pPr indent="-342900" lvl="0" marL="457200" rtl="0" algn="l">
              <a:spcBef>
                <a:spcPts val="0"/>
              </a:spcBef>
              <a:spcAft>
                <a:spcPts val="0"/>
              </a:spcAft>
              <a:buClr>
                <a:schemeClr val="dk1"/>
              </a:buClr>
              <a:buSzPts val="1800"/>
              <a:buChar char="-"/>
            </a:pPr>
            <a:r>
              <a:rPr lang="en">
                <a:solidFill>
                  <a:schemeClr val="dk1"/>
                </a:solidFill>
              </a:rPr>
              <a:t>The findings support the conclusion that the metabolic functions of the gut microbiome does not differ between supplement types in anemic infants.</a:t>
            </a:r>
            <a:endParaRPr>
              <a:solidFill>
                <a:schemeClr val="dk1"/>
              </a:solidFill>
            </a:endParaRPr>
          </a:p>
          <a:p>
            <a:pPr indent="-342900" lvl="0" marL="457200" rtl="0" algn="l">
              <a:spcBef>
                <a:spcPts val="0"/>
              </a:spcBef>
              <a:spcAft>
                <a:spcPts val="0"/>
              </a:spcAft>
              <a:buClr>
                <a:srgbClr val="D9D9D9"/>
              </a:buClr>
              <a:buSzPts val="1800"/>
              <a:buChar char="-"/>
            </a:pPr>
            <a:r>
              <a:rPr lang="en">
                <a:solidFill>
                  <a:srgbClr val="D9D9D9"/>
                </a:solidFill>
              </a:rPr>
              <a:t>Taking supplements is beneficial for anemic infants because increased hemoglobin or ferritin levels is associated with gut microbial diversity.</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This result is good because that means patients can choose to take either FeSO4 or MNP without significantly affecting their microbiome diversity.</a:t>
            </a:r>
            <a:endParaRPr>
              <a:solidFill>
                <a:srgbClr val="D9D9D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What do these results mean for anemic infants? </a:t>
            </a:r>
            <a:endParaRPr b="1" sz="2420"/>
          </a:p>
        </p:txBody>
      </p:sp>
      <p:sp>
        <p:nvSpPr>
          <p:cNvPr id="162" name="Google Shape;162;p24"/>
          <p:cNvSpPr txBox="1"/>
          <p:nvPr>
            <p:ph idx="1" type="body"/>
          </p:nvPr>
        </p:nvSpPr>
        <p:spPr>
          <a:xfrm>
            <a:off x="311700" y="12327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The gut microbiome does not differ greatly between anemic infants who are taking different kinds of supplements. </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The findings support the conclusion that the metabolic functions of the gut microbiome does not differ between supplement types in anemic infants.</a:t>
            </a:r>
            <a:endParaRPr>
              <a:solidFill>
                <a:srgbClr val="D9D9D9"/>
              </a:solidFill>
            </a:endParaRPr>
          </a:p>
          <a:p>
            <a:pPr indent="-342900" lvl="0" marL="457200" rtl="0" algn="l">
              <a:spcBef>
                <a:spcPts val="0"/>
              </a:spcBef>
              <a:spcAft>
                <a:spcPts val="0"/>
              </a:spcAft>
              <a:buClr>
                <a:srgbClr val="000000"/>
              </a:buClr>
              <a:buSzPts val="1800"/>
              <a:buChar char="-"/>
            </a:pPr>
            <a:r>
              <a:rPr lang="en">
                <a:solidFill>
                  <a:srgbClr val="000000"/>
                </a:solidFill>
              </a:rPr>
              <a:t>Taking supplements is beneficial for anemic infants because increased hemoglobin or ferritin levels is associated with gut microbial diversity.</a:t>
            </a:r>
            <a:endParaRPr>
              <a:solidFill>
                <a:srgbClr val="000000"/>
              </a:solidFill>
            </a:endParaRPr>
          </a:p>
          <a:p>
            <a:pPr indent="-342900" lvl="0" marL="457200" rtl="0" algn="l">
              <a:spcBef>
                <a:spcPts val="0"/>
              </a:spcBef>
              <a:spcAft>
                <a:spcPts val="0"/>
              </a:spcAft>
              <a:buClr>
                <a:srgbClr val="D9D9D9"/>
              </a:buClr>
              <a:buSzPts val="1800"/>
              <a:buChar char="-"/>
            </a:pPr>
            <a:r>
              <a:rPr lang="en">
                <a:solidFill>
                  <a:srgbClr val="D9D9D9"/>
                </a:solidFill>
              </a:rPr>
              <a:t>This result is good because that means patients can choose to take either FeSO4 or MNP without significantly affecting their microbiome diversity.</a:t>
            </a:r>
            <a:endParaRPr>
              <a:solidFill>
                <a:srgbClr val="D9D9D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What do these results mean for anemic infants? </a:t>
            </a:r>
            <a:endParaRPr b="1" sz="2420"/>
          </a:p>
        </p:txBody>
      </p:sp>
      <p:sp>
        <p:nvSpPr>
          <p:cNvPr id="168" name="Google Shape;168;p25"/>
          <p:cNvSpPr txBox="1"/>
          <p:nvPr>
            <p:ph idx="1" type="body"/>
          </p:nvPr>
        </p:nvSpPr>
        <p:spPr>
          <a:xfrm>
            <a:off x="311700" y="12327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The gut microbiome does not differ greatly between anemic infants who are taking different kinds of supplements. </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The findings support the conclusion that the metabolic functions of the gut microbiome does not differ between supplement types in anemic infants.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Taking supplements is beneficial for anemic infants because increased hemoglobin or ferritin levels is associated with gut microbial diversity.</a:t>
            </a:r>
            <a:endParaRPr>
              <a:solidFill>
                <a:srgbClr val="D9D9D9"/>
              </a:solidFill>
            </a:endParaRPr>
          </a:p>
          <a:p>
            <a:pPr indent="-342900" lvl="0" marL="457200" rtl="0" algn="l">
              <a:spcBef>
                <a:spcPts val="0"/>
              </a:spcBef>
              <a:spcAft>
                <a:spcPts val="0"/>
              </a:spcAft>
              <a:buClr>
                <a:schemeClr val="dk1"/>
              </a:buClr>
              <a:buSzPts val="1800"/>
              <a:buChar char="-"/>
            </a:pPr>
            <a:r>
              <a:rPr lang="en">
                <a:solidFill>
                  <a:schemeClr val="dk1"/>
                </a:solidFill>
              </a:rPr>
              <a:t>This result is good because that means patients can choose to take either FeSO4 or MNP without significantly affecting their microbiome diversity.</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Future directions</a:t>
            </a:r>
            <a:endParaRPr b="1" sz="2420"/>
          </a:p>
        </p:txBody>
      </p:sp>
      <p:sp>
        <p:nvSpPr>
          <p:cNvPr id="174" name="Google Shape;174;p26"/>
          <p:cNvSpPr txBox="1"/>
          <p:nvPr>
            <p:ph idx="1" type="body"/>
          </p:nvPr>
        </p:nvSpPr>
        <p:spPr>
          <a:xfrm>
            <a:off x="311700" y="1152475"/>
            <a:ext cx="6084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Different iron supplementation types?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Anemic infants with infections/diseases </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Look at the effects of non-iron supplements like vitamin b12, vitamin b9, or certain minerals like copper</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DNA based analysis lacks transcriptional/translational regulatory analysis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Protein/mRNA level analysis in order to confirm functional analysis results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Metatranscriptomics/proteomics</a:t>
            </a:r>
            <a:endParaRPr>
              <a:solidFill>
                <a:srgbClr val="D9D9D9"/>
              </a:solidFill>
            </a:endParaRPr>
          </a:p>
        </p:txBody>
      </p:sp>
      <p:sp>
        <p:nvSpPr>
          <p:cNvPr id="175" name="Google Shape;175;p26"/>
          <p:cNvSpPr txBox="1"/>
          <p:nvPr>
            <p:ph idx="1" type="body"/>
          </p:nvPr>
        </p:nvSpPr>
        <p:spPr>
          <a:xfrm>
            <a:off x="311700" y="1152475"/>
            <a:ext cx="6084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Different iron supplementation types?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
        <p:nvSpPr>
          <p:cNvPr id="176" name="Google Shape;176;p26"/>
          <p:cNvSpPr/>
          <p:nvPr/>
        </p:nvSpPr>
        <p:spPr>
          <a:xfrm>
            <a:off x="1624525" y="1848600"/>
            <a:ext cx="5887200" cy="322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7" name="Google Shape;177;p26" title="types-of-iron-supp.jpg"/>
          <p:cNvPicPr preferRelativeResize="0"/>
          <p:nvPr/>
        </p:nvPicPr>
        <p:blipFill rotWithShape="1">
          <a:blip r:embed="rId3">
            <a:alphaModFix/>
          </a:blip>
          <a:srcRect b="8842" l="0" r="0" t="0"/>
          <a:stretch/>
        </p:blipFill>
        <p:spPr>
          <a:xfrm>
            <a:off x="1680050" y="1894425"/>
            <a:ext cx="5783900" cy="3130549"/>
          </a:xfrm>
          <a:prstGeom prst="rect">
            <a:avLst/>
          </a:prstGeom>
          <a:noFill/>
          <a:ln>
            <a:noFill/>
          </a:ln>
        </p:spPr>
      </p:pic>
      <p:sp>
        <p:nvSpPr>
          <p:cNvPr id="178" name="Google Shape;178;p26"/>
          <p:cNvSpPr/>
          <p:nvPr/>
        </p:nvSpPr>
        <p:spPr>
          <a:xfrm>
            <a:off x="1711125" y="1930075"/>
            <a:ext cx="1716300" cy="3094800"/>
          </a:xfrm>
          <a:prstGeom prst="rect">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6"/>
          <p:cNvSpPr txBox="1"/>
          <p:nvPr/>
        </p:nvSpPr>
        <p:spPr>
          <a:xfrm>
            <a:off x="5708950" y="1396500"/>
            <a:ext cx="2562000" cy="4521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Iron Supplement Types</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Future directions</a:t>
            </a:r>
            <a:endParaRPr b="1" sz="2420"/>
          </a:p>
        </p:txBody>
      </p:sp>
      <p:sp>
        <p:nvSpPr>
          <p:cNvPr id="185" name="Google Shape;185;p27"/>
          <p:cNvSpPr txBox="1"/>
          <p:nvPr>
            <p:ph idx="1" type="body"/>
          </p:nvPr>
        </p:nvSpPr>
        <p:spPr>
          <a:xfrm>
            <a:off x="311700" y="1152475"/>
            <a:ext cx="6084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Different iron supplementation types?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Anemic infants with infections/diseases </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Look at the effects of non-iron supplements like vitamin b12, vitamin b9, or certain minerals like copper</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DNA based analysis lacks transcriptional/translational regulatory analysis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Protein/mRNA level analysis in order to confirm functional analysis results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Metatranscriptomics/proteomics</a:t>
            </a:r>
            <a:endParaRPr>
              <a:solidFill>
                <a:srgbClr val="D9D9D9"/>
              </a:solidFill>
            </a:endParaRPr>
          </a:p>
        </p:txBody>
      </p:sp>
      <p:sp>
        <p:nvSpPr>
          <p:cNvPr id="186" name="Google Shape;186;p27"/>
          <p:cNvSpPr txBox="1"/>
          <p:nvPr>
            <p:ph idx="1" type="body"/>
          </p:nvPr>
        </p:nvSpPr>
        <p:spPr>
          <a:xfrm>
            <a:off x="311700" y="1152475"/>
            <a:ext cx="6084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Different iron supplementation types?</a:t>
            </a:r>
            <a:endParaRPr>
              <a:solidFill>
                <a:srgbClr val="D9D9D9"/>
              </a:solidFill>
            </a:endParaRPr>
          </a:p>
          <a:p>
            <a:pPr indent="-342900" lvl="0" marL="457200" rtl="0" algn="l">
              <a:spcBef>
                <a:spcPts val="0"/>
              </a:spcBef>
              <a:spcAft>
                <a:spcPts val="0"/>
              </a:spcAft>
              <a:buClr>
                <a:schemeClr val="dk1"/>
              </a:buClr>
              <a:buSzPts val="1800"/>
              <a:buChar char="-"/>
            </a:pPr>
            <a:r>
              <a:rPr lang="en">
                <a:solidFill>
                  <a:schemeClr val="dk1"/>
                </a:solidFill>
              </a:rPr>
              <a:t>Anemic infants with infections/diseases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
        <p:nvSpPr>
          <p:cNvPr id="187" name="Google Shape;187;p27"/>
          <p:cNvSpPr/>
          <p:nvPr/>
        </p:nvSpPr>
        <p:spPr>
          <a:xfrm>
            <a:off x="6788400" y="30550"/>
            <a:ext cx="1604100" cy="5082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8" name="Google Shape;188;p27" title="Screenshot 2026-04-03 145826.png"/>
          <p:cNvPicPr preferRelativeResize="0"/>
          <p:nvPr/>
        </p:nvPicPr>
        <p:blipFill>
          <a:blip r:embed="rId3">
            <a:alphaModFix/>
          </a:blip>
          <a:stretch>
            <a:fillRect/>
          </a:stretch>
        </p:blipFill>
        <p:spPr>
          <a:xfrm>
            <a:off x="6831200" y="68750"/>
            <a:ext cx="1520350" cy="5006000"/>
          </a:xfrm>
          <a:prstGeom prst="rect">
            <a:avLst/>
          </a:prstGeom>
          <a:noFill/>
          <a:ln>
            <a:noFill/>
          </a:ln>
        </p:spPr>
      </p:pic>
      <p:sp>
        <p:nvSpPr>
          <p:cNvPr id="189" name="Google Shape;189;p27"/>
          <p:cNvSpPr txBox="1"/>
          <p:nvPr/>
        </p:nvSpPr>
        <p:spPr>
          <a:xfrm>
            <a:off x="4822650" y="670900"/>
            <a:ext cx="1989300" cy="4431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Anemia metadata</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Future directions</a:t>
            </a:r>
            <a:endParaRPr b="1" sz="2420"/>
          </a:p>
        </p:txBody>
      </p:sp>
      <p:sp>
        <p:nvSpPr>
          <p:cNvPr id="195" name="Google Shape;195;p28"/>
          <p:cNvSpPr txBox="1"/>
          <p:nvPr>
            <p:ph idx="1" type="body"/>
          </p:nvPr>
        </p:nvSpPr>
        <p:spPr>
          <a:xfrm>
            <a:off x="311700" y="1152475"/>
            <a:ext cx="6084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Different iron supplementation types?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Anemic infants with infections/diseases </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Look at the effects of non-iron supplements like vitamin b12, vitamin b9, or certain minerals like copper</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DNA based analysis lacks transcriptional/translational regulatory analysis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Protein/mRNA level analysis in order to confirm functional analysis results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Metatranscriptomics/proteomics</a:t>
            </a:r>
            <a:endParaRPr>
              <a:solidFill>
                <a:srgbClr val="D9D9D9"/>
              </a:solidFill>
            </a:endParaRPr>
          </a:p>
        </p:txBody>
      </p:sp>
      <p:sp>
        <p:nvSpPr>
          <p:cNvPr id="196" name="Google Shape;196;p28"/>
          <p:cNvSpPr txBox="1"/>
          <p:nvPr>
            <p:ph idx="1" type="body"/>
          </p:nvPr>
        </p:nvSpPr>
        <p:spPr>
          <a:xfrm>
            <a:off x="311700" y="1152475"/>
            <a:ext cx="6084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Different iron supplementation types?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Anemic infants with infections/diseases</a:t>
            </a:r>
            <a:endParaRPr>
              <a:solidFill>
                <a:srgbClr val="D9D9D9"/>
              </a:solidFill>
            </a:endParaRPr>
          </a:p>
          <a:p>
            <a:pPr indent="-342900" lvl="0" marL="457200" rtl="0" algn="l">
              <a:spcBef>
                <a:spcPts val="0"/>
              </a:spcBef>
              <a:spcAft>
                <a:spcPts val="0"/>
              </a:spcAft>
              <a:buClr>
                <a:schemeClr val="dk1"/>
              </a:buClr>
              <a:buSzPts val="1800"/>
              <a:buChar char="-"/>
            </a:pPr>
            <a:r>
              <a:rPr lang="en">
                <a:solidFill>
                  <a:schemeClr val="dk1"/>
                </a:solidFill>
              </a:rPr>
              <a:t>Look at the effects of non-iron supplements like vitamin </a:t>
            </a:r>
            <a:r>
              <a:rPr lang="en">
                <a:solidFill>
                  <a:schemeClr val="dk1"/>
                </a:solidFill>
              </a:rPr>
              <a:t>b12, vitamin b9, or certain minerals like copper</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311700" y="445025"/>
            <a:ext cx="2978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t>Future directions</a:t>
            </a:r>
            <a:endParaRPr b="1" sz="2420"/>
          </a:p>
        </p:txBody>
      </p:sp>
      <p:sp>
        <p:nvSpPr>
          <p:cNvPr id="202" name="Google Shape;202;p29"/>
          <p:cNvSpPr txBox="1"/>
          <p:nvPr>
            <p:ph idx="1" type="body"/>
          </p:nvPr>
        </p:nvSpPr>
        <p:spPr>
          <a:xfrm>
            <a:off x="311700" y="1152475"/>
            <a:ext cx="6084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Different iron supplementation types?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Anemic infants with infections/diseases </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Look at the effects of non-iron supplements like vitamin b12, vitamin b9, or certain minerals like copper</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DNA based analysis lacks transcriptional/translational regulatory analysis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Protein/mRNA level analysis in order to confirm functional analysis results</a:t>
            </a:r>
            <a:endParaRPr>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Metatranscriptomics/proteomics</a:t>
            </a:r>
            <a:endParaRPr>
              <a:solidFill>
                <a:srgbClr val="D9D9D9"/>
              </a:solidFill>
            </a:endParaRPr>
          </a:p>
        </p:txBody>
      </p:sp>
      <p:sp>
        <p:nvSpPr>
          <p:cNvPr id="203" name="Google Shape;203;p29"/>
          <p:cNvSpPr txBox="1"/>
          <p:nvPr>
            <p:ph idx="1" type="body"/>
          </p:nvPr>
        </p:nvSpPr>
        <p:spPr>
          <a:xfrm>
            <a:off x="311700" y="1152475"/>
            <a:ext cx="6084600" cy="396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9D9D9"/>
              </a:buClr>
              <a:buSzPts val="1800"/>
              <a:buChar char="-"/>
            </a:pPr>
            <a:r>
              <a:rPr lang="en">
                <a:solidFill>
                  <a:srgbClr val="D9D9D9"/>
                </a:solidFill>
              </a:rPr>
              <a:t>Different iron supplementation types?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Anemic infants with infections/diseases</a:t>
            </a:r>
            <a:endParaRPr>
              <a:solidFill>
                <a:srgbClr val="D9D9D9"/>
              </a:solidFill>
            </a:endParaRPr>
          </a:p>
          <a:p>
            <a:pPr indent="-342900" lvl="0" marL="457200" rtl="0" algn="l">
              <a:spcBef>
                <a:spcPts val="0"/>
              </a:spcBef>
              <a:spcAft>
                <a:spcPts val="0"/>
              </a:spcAft>
              <a:buClr>
                <a:srgbClr val="D9D9D9"/>
              </a:buClr>
              <a:buSzPts val="1800"/>
              <a:buChar char="-"/>
            </a:pPr>
            <a:r>
              <a:rPr lang="en">
                <a:solidFill>
                  <a:srgbClr val="D9D9D9"/>
                </a:solidFill>
              </a:rPr>
              <a:t>Look at the effects of non-iron supplements like vitamin b12, vitamin b9, or certain minerals like copper</a:t>
            </a:r>
            <a:endParaRPr>
              <a:solidFill>
                <a:srgbClr val="D9D9D9"/>
              </a:solidFill>
            </a:endParaRPr>
          </a:p>
          <a:p>
            <a:pPr indent="-342900" lvl="0" marL="457200" rtl="0" algn="l">
              <a:spcBef>
                <a:spcPts val="0"/>
              </a:spcBef>
              <a:spcAft>
                <a:spcPts val="0"/>
              </a:spcAft>
              <a:buClr>
                <a:schemeClr val="dk1"/>
              </a:buClr>
              <a:buSzPts val="1800"/>
              <a:buChar char="-"/>
            </a:pPr>
            <a:r>
              <a:rPr lang="en">
                <a:solidFill>
                  <a:schemeClr val="dk1"/>
                </a:solidFill>
              </a:rPr>
              <a:t>DNA based analysis lacks transcriptional/translational regulatory analysis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Protein/mRNA level analysis in order to confirm functional analysis results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Metatranscriptomics/proteomics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grpSp>
        <p:nvGrpSpPr>
          <p:cNvPr id="204" name="Google Shape;204;p29"/>
          <p:cNvGrpSpPr/>
          <p:nvPr/>
        </p:nvGrpSpPr>
        <p:grpSpPr>
          <a:xfrm>
            <a:off x="3077350" y="215625"/>
            <a:ext cx="6043200" cy="2218800"/>
            <a:chOff x="3077350" y="215625"/>
            <a:chExt cx="6043200" cy="2218800"/>
          </a:xfrm>
        </p:grpSpPr>
        <p:sp>
          <p:nvSpPr>
            <p:cNvPr id="205" name="Google Shape;205;p29"/>
            <p:cNvSpPr/>
            <p:nvPr/>
          </p:nvSpPr>
          <p:spPr>
            <a:xfrm>
              <a:off x="3077350" y="215625"/>
              <a:ext cx="6043200" cy="221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6" name="Google Shape;206;p29" title="metaT.gif"/>
            <p:cNvPicPr preferRelativeResize="0"/>
            <p:nvPr/>
          </p:nvPicPr>
          <p:blipFill rotWithShape="1">
            <a:blip r:embed="rId3">
              <a:alphaModFix/>
            </a:blip>
            <a:srcRect b="8734" l="0" r="0" t="0"/>
            <a:stretch/>
          </p:blipFill>
          <p:spPr>
            <a:xfrm>
              <a:off x="3114627" y="702800"/>
              <a:ext cx="3007197" cy="1685624"/>
            </a:xfrm>
            <a:prstGeom prst="rect">
              <a:avLst/>
            </a:prstGeom>
            <a:solidFill>
              <a:schemeClr val="dk1"/>
            </a:solidFill>
            <a:ln>
              <a:noFill/>
            </a:ln>
          </p:spPr>
        </p:pic>
        <p:pic>
          <p:nvPicPr>
            <p:cNvPr id="207" name="Google Shape;207;p29"/>
            <p:cNvPicPr preferRelativeResize="0"/>
            <p:nvPr/>
          </p:nvPicPr>
          <p:blipFill>
            <a:blip r:embed="rId4">
              <a:alphaModFix/>
            </a:blip>
            <a:stretch>
              <a:fillRect/>
            </a:stretch>
          </p:blipFill>
          <p:spPr>
            <a:xfrm>
              <a:off x="6152912" y="702800"/>
              <a:ext cx="2921773" cy="1685625"/>
            </a:xfrm>
            <a:prstGeom prst="rect">
              <a:avLst/>
            </a:prstGeom>
            <a:solidFill>
              <a:schemeClr val="dk1"/>
            </a:solidFill>
            <a:ln>
              <a:noFill/>
            </a:ln>
          </p:spPr>
        </p:pic>
        <p:sp>
          <p:nvSpPr>
            <p:cNvPr id="208" name="Google Shape;208;p29"/>
            <p:cNvSpPr txBox="1"/>
            <p:nvPr/>
          </p:nvSpPr>
          <p:spPr>
            <a:xfrm>
              <a:off x="3114613" y="241100"/>
              <a:ext cx="274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rPr>
                <a:t>Transcriptomics</a:t>
              </a:r>
              <a:endParaRPr sz="1800">
                <a:solidFill>
                  <a:srgbClr val="FFFFFF"/>
                </a:solidFill>
              </a:endParaRPr>
            </a:p>
          </p:txBody>
        </p:sp>
        <p:sp>
          <p:nvSpPr>
            <p:cNvPr id="209" name="Google Shape;209;p29"/>
            <p:cNvSpPr txBox="1"/>
            <p:nvPr/>
          </p:nvSpPr>
          <p:spPr>
            <a:xfrm>
              <a:off x="6152925" y="241100"/>
              <a:ext cx="292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Proteomics</a:t>
              </a:r>
              <a:endParaRPr sz="1800">
                <a:solidFill>
                  <a:schemeClr val="lt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